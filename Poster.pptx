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EC3"/>
    <a:srgbClr val="BFC7D3"/>
    <a:srgbClr val="DDD7D6"/>
    <a:srgbClr val="DDE1E7"/>
    <a:srgbClr val="FFF4EC"/>
    <a:srgbClr val="B8C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5A320-4247-4A76-902D-5700332162F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2EAD0-5D7F-48B0-B551-5D7AB315B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32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2EAD0-5D7F-48B0-B551-5D7AB315BF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89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9F62-28F0-8F31-460A-9E26C4666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3612B-C9B7-2220-435A-D8CCFAF00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09084-6FF8-9DD2-E761-63ECBAA4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DB10F-05D9-1F8A-B087-8C7B783A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7DDB8-D51E-266C-8C7C-4319C771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48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172C-FCA3-D03D-1833-24395BFF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F4E8A-6BAD-34B4-4C6F-1DD1E6A19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94F0D-312D-F9E4-C45D-19E72CDD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F9796-BD74-DA66-1276-AC39D9DF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808D3-C78B-9530-5F59-85B66824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46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5774-F423-AE9B-68D0-2C659CA4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F544A-66CC-6B8D-90E6-EBFFCC276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89308-8BD4-7CC8-91B2-B7BB12B77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445D6-FBBB-1AFA-5235-30B45AD4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BC346-BD7D-F8D7-911C-49CC2E48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1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4154-194E-99FD-6B88-9A922887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161E4-919F-0D40-3727-6F65A9F1B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691F5-0F30-0ACD-E3A1-35E2EEC09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09B59-B3FA-AA25-7005-855C1B4B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998E0-AB82-452E-7535-DA3C09DB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22765-960A-9393-F152-613A829E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1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A5D17-DE4D-22F7-E327-DFA5C226E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8B22D-5E6E-9DFF-7E9F-0F9F86A88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E4B95-8B00-84E1-D033-4111A13E1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EA013-FAB2-8AC2-9D31-4EAB5001F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1E8BD2-6617-B658-7E7A-93AB3F4D8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CA77A5-CB01-E179-5EF2-FB00DCDD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8EE8EF-B2EF-3BEA-4242-7FD9CC8D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4B772-3CF2-88BC-4B32-7D833FF6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3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F0C2-2F30-10B6-C775-83CCDA0E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62EC42-5313-B776-5C1B-21EEF01EF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955BA-AEB9-5B7C-7DB8-B8564D7B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F2ACF-5C3F-61D8-6ACE-FE7F2F7C3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1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6A413-E122-D54F-DEDB-728E7F00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8430B-639F-392B-23CB-580E2DBD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7898C-504F-F2E1-9F08-A56B3947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5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157F-699B-2CF7-4799-CFD2C614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18D6-A19D-2AA5-F05B-CB01D66BE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2F983-F346-1A68-B133-3E4B0C9E0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E028F-07FA-CDDD-7C50-5838FEB9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55E7-92CA-D788-6D80-6130F4F8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0B4CA-DEAA-D910-3B37-8DCA2862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4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2E3C-3AAF-06CA-BC6A-2DC5C0F6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0061F-E316-F961-0BF0-353AC9089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A7A-741C-B78B-8EC6-94A6AC306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90CCD-C543-888E-0F33-C43CD3D0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42079-C2D5-F561-26DD-4456CC5B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DB6C4-4E85-4A01-4A4E-46325360C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7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A3B0-2BBB-6656-B8F6-7C5FFCF1A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CC0A1-3CD8-DD91-010F-8419DCA02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65F11-EC0E-4138-030B-46A377D1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B522F-042C-D471-ADC2-D1FB30EB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EAF1-84CE-8513-6C5C-188760F4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6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72819-5016-F379-084B-74DF96E8F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DF182-47A1-AFF0-6273-8E01E4E2F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DA204-D389-2086-5167-F0F549C3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4DBD7-6094-4AF6-7769-D5293A2D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FD444-3A7A-B1FA-513B-0ED709BA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9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D84AA3-F712-8684-C8AB-3C66C3D9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A316-5955-ED4F-F5A9-BC95070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C338B-8E3F-9787-5403-F377CD5442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35D4C-3986-4455-A474-BC27F1FA70F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9B3B9-7887-6074-B725-279CFEDB5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D7B6-84F7-A1E2-19D2-BE3239A11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BA74F-AF76-49E9-848A-39654B348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14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CA5980-C64F-D31E-36E0-E73AF03AD7D5}"/>
              </a:ext>
            </a:extLst>
          </p:cNvPr>
          <p:cNvSpPr/>
          <p:nvPr/>
        </p:nvSpPr>
        <p:spPr>
          <a:xfrm>
            <a:off x="0" y="0"/>
            <a:ext cx="12192000" cy="1002124"/>
          </a:xfrm>
          <a:prstGeom prst="rect">
            <a:avLst/>
          </a:prstGeom>
          <a:solidFill>
            <a:srgbClr val="BFC7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739DF3-ACBE-C88B-FB31-EF446FFA6FC0}"/>
              </a:ext>
            </a:extLst>
          </p:cNvPr>
          <p:cNvSpPr txBox="1"/>
          <p:nvPr/>
        </p:nvSpPr>
        <p:spPr>
          <a:xfrm>
            <a:off x="0" y="-1270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800" b="1" dirty="0"/>
              <a:t>Non-End-to-End Optical Music Recognition</a:t>
            </a:r>
            <a:endParaRPr 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FEE03-5939-FBC8-3F83-C6B3BF8BB913}"/>
              </a:ext>
            </a:extLst>
          </p:cNvPr>
          <p:cNvSpPr txBox="1"/>
          <p:nvPr/>
        </p:nvSpPr>
        <p:spPr>
          <a:xfrm>
            <a:off x="6096000" y="576000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000" dirty="0"/>
              <a:t>Asistent: Dragan Vidaković</a:t>
            </a:r>
            <a:endParaRPr lang="en-US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7D137D-859A-7B67-DE96-FF42C2974D1E}"/>
              </a:ext>
            </a:extLst>
          </p:cNvPr>
          <p:cNvSpPr/>
          <p:nvPr/>
        </p:nvSpPr>
        <p:spPr>
          <a:xfrm>
            <a:off x="0" y="6275457"/>
            <a:ext cx="12192000" cy="588990"/>
          </a:xfrm>
          <a:prstGeom prst="rect">
            <a:avLst/>
          </a:prstGeom>
          <a:solidFill>
            <a:srgbClr val="BFC7D3"/>
          </a:solidFill>
          <a:ln>
            <a:solidFill>
              <a:srgbClr val="B8CA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629B36-5C5E-A48C-8963-0EEED603B443}"/>
              </a:ext>
            </a:extLst>
          </p:cNvPr>
          <p:cNvSpPr txBox="1"/>
          <p:nvPr/>
        </p:nvSpPr>
        <p:spPr>
          <a:xfrm>
            <a:off x="0" y="353943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600" dirty="0"/>
              <a:t>Projekat iz predmeta Soft kompjuting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46E79-2C38-785F-43B9-AE4FB0B1B491}"/>
              </a:ext>
            </a:extLst>
          </p:cNvPr>
          <p:cNvSpPr txBox="1"/>
          <p:nvPr/>
        </p:nvSpPr>
        <p:spPr>
          <a:xfrm>
            <a:off x="0" y="576000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000" dirty="0"/>
              <a:t>Student: Petar Bratić RA 14/2022</a:t>
            </a:r>
            <a:endParaRPr lang="en-US" sz="200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338DF571-19DE-04C4-E9D3-9AF3237CD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" y="6280945"/>
            <a:ext cx="527050" cy="57705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87D86C9-FF06-5EC1-CD50-5B5793407E7D}"/>
              </a:ext>
            </a:extLst>
          </p:cNvPr>
          <p:cNvSpPr txBox="1"/>
          <p:nvPr/>
        </p:nvSpPr>
        <p:spPr>
          <a:xfrm>
            <a:off x="577850" y="6280945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/>
              <a:t>Fakultet tehničkih nauka, Novi Sad</a:t>
            </a:r>
          </a:p>
          <a:p>
            <a:r>
              <a:rPr lang="sr-Latn-RS" sz="1600" dirty="0"/>
              <a:t>Februar 2026.</a:t>
            </a:r>
            <a:endParaRPr lang="en-US" sz="16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F4C8933-AAC3-2884-7365-4BC9AEAF0205}"/>
              </a:ext>
            </a:extLst>
          </p:cNvPr>
          <p:cNvSpPr/>
          <p:nvPr/>
        </p:nvSpPr>
        <p:spPr>
          <a:xfrm>
            <a:off x="102870" y="1263661"/>
            <a:ext cx="3838570" cy="1231774"/>
          </a:xfrm>
          <a:prstGeom prst="roundRect">
            <a:avLst/>
          </a:prstGeom>
          <a:solidFill>
            <a:srgbClr val="DD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 b="1" dirty="0">
                <a:solidFill>
                  <a:schemeClr val="tx1"/>
                </a:solidFill>
              </a:rPr>
              <a:t>Uvod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Optical Music Recognition (OMR) ima za cilj uspešno pretvaranje slike notnog zapisa u digitalni format. Projekat je zasnovan na segmentaciji i klasifikaciji nota.</a:t>
            </a:r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61BF1D4-D393-C853-85AF-A1856B0DDC8D}"/>
              </a:ext>
            </a:extLst>
          </p:cNvPr>
          <p:cNvGrpSpPr/>
          <p:nvPr/>
        </p:nvGrpSpPr>
        <p:grpSpPr>
          <a:xfrm>
            <a:off x="5561099" y="5398377"/>
            <a:ext cx="1077112" cy="529874"/>
            <a:chOff x="2032801" y="4072631"/>
            <a:chExt cx="941279" cy="46305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5460ACE-E9D7-B21E-A0FE-34F809D8E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801" y="4072631"/>
              <a:ext cx="295238" cy="209524"/>
            </a:xfrm>
            <a:prstGeom prst="rect">
              <a:avLst/>
            </a:prstGeom>
            <a:ln w="12700">
              <a:solidFill>
                <a:srgbClr val="BFC7D3"/>
              </a:solidFill>
            </a:ln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2D3DECE-BC23-FABA-00E3-833778650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6737" y="4323423"/>
              <a:ext cx="215760" cy="208800"/>
            </a:xfrm>
            <a:prstGeom prst="rect">
              <a:avLst/>
            </a:prstGeom>
            <a:ln w="12700">
              <a:solidFill>
                <a:srgbClr val="BFBEC3"/>
              </a:solidFill>
            </a:ln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02BEEA2-F4F5-9570-E1C7-FEE2C3F7B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032" y="4326883"/>
              <a:ext cx="202275" cy="208800"/>
            </a:xfrm>
            <a:prstGeom prst="rect">
              <a:avLst/>
            </a:prstGeom>
            <a:ln>
              <a:solidFill>
                <a:srgbClr val="BFC7D3"/>
              </a:solidFill>
            </a:ln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8A671E5-35FE-C7E7-1EDB-8D7AF4AF1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6020" y="4323423"/>
              <a:ext cx="208800" cy="208800"/>
            </a:xfrm>
            <a:prstGeom prst="rect">
              <a:avLst/>
            </a:prstGeom>
            <a:ln w="12700">
              <a:solidFill>
                <a:srgbClr val="BFBEC3"/>
              </a:solidFill>
            </a:ln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5A8A5606-80E1-E425-3B2A-A98B2B231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032" y="4072631"/>
              <a:ext cx="219048" cy="209524"/>
            </a:xfrm>
            <a:prstGeom prst="rect">
              <a:avLst/>
            </a:prstGeom>
            <a:ln w="12700">
              <a:solidFill>
                <a:srgbClr val="DDD7D6"/>
              </a:solidFill>
            </a:ln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74AE8AF-5E30-0091-930D-D198D4354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958" y="4072631"/>
              <a:ext cx="209524" cy="209524"/>
            </a:xfrm>
            <a:prstGeom prst="rect">
              <a:avLst/>
            </a:prstGeom>
            <a:ln w="12700">
              <a:solidFill>
                <a:srgbClr val="DDE1E7"/>
              </a:solidFill>
            </a:ln>
          </p:spPr>
        </p:pic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77BA3E4C-84DD-3893-22EA-611A78A0A6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229" y="3212318"/>
            <a:ext cx="3837600" cy="441716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8BB935E-174D-8FC0-0AE4-DF927E6D9673}"/>
              </a:ext>
            </a:extLst>
          </p:cNvPr>
          <p:cNvSpPr/>
          <p:nvPr/>
        </p:nvSpPr>
        <p:spPr>
          <a:xfrm>
            <a:off x="102870" y="2620026"/>
            <a:ext cx="3838570" cy="1577224"/>
          </a:xfrm>
          <a:prstGeom prst="roundRect">
            <a:avLst/>
          </a:prstGeom>
          <a:solidFill>
            <a:srgbClr val="DD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 b="1" dirty="0">
                <a:solidFill>
                  <a:schemeClr val="tx1"/>
                </a:solidFill>
              </a:rPr>
              <a:t>Problem i pristup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Implementiran je Non-End-to-End pristup koji se sastoji iz: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segmentacije pojedinačnih nota,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klasifikacije visine tona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klasifikacije trajanja tona.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611593F-69A2-C046-29DD-0B2BBAFDA2B0}"/>
              </a:ext>
            </a:extLst>
          </p:cNvPr>
          <p:cNvSpPr/>
          <p:nvPr/>
        </p:nvSpPr>
        <p:spPr>
          <a:xfrm>
            <a:off x="4198460" y="1263661"/>
            <a:ext cx="3838570" cy="2344294"/>
          </a:xfrm>
          <a:prstGeom prst="roundRect">
            <a:avLst/>
          </a:prstGeom>
          <a:solidFill>
            <a:srgbClr val="DD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 b="1" dirty="0">
                <a:solidFill>
                  <a:schemeClr val="tx1"/>
                </a:solidFill>
              </a:rPr>
              <a:t>Skup podataka i priprema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Korišćen je PrIMuS skup podataka.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Proces pripreme podataka je obuhvatio: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ekstrakciju regiona nota,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filtriranje neusaglašenih primera,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balansiranje klasa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formiranje odvojenih skupova za Pitch i Duration modele.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Formirani su zasebni train / validation / test skupovi za oba klasifikatora.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67EDE9B-3BAB-4808-6EC1-BABBD4E9CF82}"/>
              </a:ext>
            </a:extLst>
          </p:cNvPr>
          <p:cNvSpPr/>
          <p:nvPr/>
        </p:nvSpPr>
        <p:spPr>
          <a:xfrm>
            <a:off x="4198459" y="3747209"/>
            <a:ext cx="3838570" cy="1483234"/>
          </a:xfrm>
          <a:prstGeom prst="roundRect">
            <a:avLst/>
          </a:prstGeom>
          <a:solidFill>
            <a:srgbClr val="DD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 b="1" dirty="0">
                <a:solidFill>
                  <a:schemeClr val="tx1"/>
                </a:solidFill>
              </a:rPr>
              <a:t>Arhitektura i treniranje modela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Razvijena su dva konvolutivna neuronska modela: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Pitch Recognition Model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Duration Recognition Model.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Modeli su trenirani nezavisno na GPU-u.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FF8AB89-B462-1BE9-9B3B-72BA137B1A20}"/>
              </a:ext>
            </a:extLst>
          </p:cNvPr>
          <p:cNvSpPr/>
          <p:nvPr/>
        </p:nvSpPr>
        <p:spPr>
          <a:xfrm>
            <a:off x="8263259" y="1259602"/>
            <a:ext cx="3838570" cy="1671213"/>
          </a:xfrm>
          <a:prstGeom prst="roundRect">
            <a:avLst/>
          </a:prstGeom>
          <a:solidFill>
            <a:srgbClr val="DD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 b="1" dirty="0">
                <a:solidFill>
                  <a:schemeClr val="tx1"/>
                </a:solidFill>
              </a:rPr>
              <a:t>Evaluacija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Performanse celokupnog sistema evaluirane su metrikama: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Sequence Error Rate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Character Error Rate.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Performanse pojedinačnih modela su evaluirane metrikom accuracy.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3CD5598-EB9D-E3B4-A6D3-461E376D9CCB}"/>
              </a:ext>
            </a:extLst>
          </p:cNvPr>
          <p:cNvSpPr/>
          <p:nvPr/>
        </p:nvSpPr>
        <p:spPr>
          <a:xfrm>
            <a:off x="8263259" y="3867488"/>
            <a:ext cx="3838570" cy="2150490"/>
          </a:xfrm>
          <a:prstGeom prst="roundRect">
            <a:avLst/>
          </a:prstGeom>
          <a:solidFill>
            <a:srgbClr val="DD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 b="1" dirty="0">
                <a:solidFill>
                  <a:schemeClr val="tx1"/>
                </a:solidFill>
              </a:rPr>
              <a:t>Prostor za unapređenje</a:t>
            </a:r>
          </a:p>
          <a:p>
            <a:r>
              <a:rPr lang="sr-Latn-RS" sz="1400" dirty="0">
                <a:solidFill>
                  <a:schemeClr val="tx1"/>
                </a:solidFill>
              </a:rPr>
              <a:t>Trenutna implementacija podržava isključivo prepoznavanje nota. Moguća unapređenja sistema bi mogla uključiti: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prepoznavanje većeg broja simbola (♯, ♭, ♮, </a:t>
            </a:r>
            <a:r>
              <a:rPr lang="sr-Latn-RS" sz="1100" dirty="0">
                <a:solidFill>
                  <a:schemeClr val="tx1"/>
                </a:solidFill>
              </a:rPr>
              <a:t>𝄞</a:t>
            </a:r>
            <a:r>
              <a:rPr lang="sr-Latn-RS" sz="1400" dirty="0">
                <a:solidFill>
                  <a:schemeClr val="tx1"/>
                </a:solidFill>
              </a:rPr>
              <a:t>, </a:t>
            </a:r>
            <a:r>
              <a:rPr lang="sr-Latn-RS" sz="1100" dirty="0">
                <a:solidFill>
                  <a:schemeClr val="tx1"/>
                </a:solidFill>
              </a:rPr>
              <a:t>𝄢, 𝄡, </a:t>
            </a:r>
            <a:r>
              <a:rPr lang="sr-Latn-RS" sz="1400" dirty="0">
                <a:solidFill>
                  <a:schemeClr val="tx1"/>
                </a:solidFill>
              </a:rPr>
              <a:t>𝄽, 𝄾, </a:t>
            </a:r>
            <a:r>
              <a:rPr lang="sr-Latn-RS" sz="1200" dirty="0">
                <a:solidFill>
                  <a:schemeClr val="tx1"/>
                </a:solidFill>
              </a:rPr>
              <a:t>𝄐, 𝄇</a:t>
            </a:r>
            <a:r>
              <a:rPr lang="sr-Latn-RS" sz="1400" dirty="0">
                <a:solidFill>
                  <a:schemeClr val="tx1"/>
                </a:solidFill>
              </a:rPr>
              <a:t>, itd),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integraciju muzičkih pravila u post-procesiranju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>
                <a:solidFill>
                  <a:schemeClr val="tx1"/>
                </a:solidFill>
              </a:rPr>
              <a:t>poboljšanje segmentacije.</a:t>
            </a:r>
          </a:p>
        </p:txBody>
      </p:sp>
      <p:pic>
        <p:nvPicPr>
          <p:cNvPr id="74" name="Picture 73" descr="A graph of a line&#10;&#10;AI-generated content may be incorrect.">
            <a:extLst>
              <a:ext uri="{FF2B5EF4-FFF2-40B4-BE49-F238E27FC236}">
                <a16:creationId xmlns:a16="http://schemas.microsoft.com/office/drawing/2014/main" id="{AF1BFEA7-1551-4F47-99C4-1963E409FF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5" y="4426231"/>
            <a:ext cx="1920000" cy="1440000"/>
          </a:xfrm>
          <a:prstGeom prst="rect">
            <a:avLst/>
          </a:prstGeom>
        </p:spPr>
      </p:pic>
      <p:pic>
        <p:nvPicPr>
          <p:cNvPr id="76" name="Picture 7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A43F7544-F22E-1796-871A-CBAF986E6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155" y="4426231"/>
            <a:ext cx="192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9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233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Dragana Simin</dc:creator>
  <cp:lastModifiedBy>Dragana Simin</cp:lastModifiedBy>
  <cp:revision>3</cp:revision>
  <dcterms:created xsi:type="dcterms:W3CDTF">2026-02-22T18:21:46Z</dcterms:created>
  <dcterms:modified xsi:type="dcterms:W3CDTF">2026-02-23T19:27:26Z</dcterms:modified>
</cp:coreProperties>
</file>